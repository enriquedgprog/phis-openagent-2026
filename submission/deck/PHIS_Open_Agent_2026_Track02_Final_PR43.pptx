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e1baa4d094824" /><Relationship Type="http://schemas.openxmlformats.org/officeDocument/2006/relationships/extended-properties" Target="/docProps/app.xml" Id="R47e30ba504d94b1b" /><Relationship Type="http://schemas.openxmlformats.org/officeDocument/2006/relationships/officeDocument" Target="/ppt/presentation.xml" Id="R540ea507264a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72383a34344e0f"/>
  </p:sldMasterIdLst>
  <p:notesMasterIdLst>
    <p:notesMasterId xmlns:r="http://schemas.openxmlformats.org/officeDocument/2006/relationships" r:id="Rab2ae2c8fc0e42f5"/>
  </p:notesMasterIdLst>
  <p:sldIdLst>
    <p:sldId xmlns:r="http://schemas.openxmlformats.org/officeDocument/2006/relationships" id="256" r:id="Rd337af6a616946bb"/>
    <p:sldId xmlns:r="http://schemas.openxmlformats.org/officeDocument/2006/relationships" id="257" r:id="Rc441954bc19d4916"/>
    <p:sldId xmlns:r="http://schemas.openxmlformats.org/officeDocument/2006/relationships" id="258" r:id="Raafb81e0d8b34907"/>
    <p:sldId xmlns:r="http://schemas.openxmlformats.org/officeDocument/2006/relationships" id="259" r:id="R8812161fe47b45e4"/>
    <p:sldId xmlns:r="http://schemas.openxmlformats.org/officeDocument/2006/relationships" id="260" r:id="R888525451fc54280"/>
    <p:sldId xmlns:r="http://schemas.openxmlformats.org/officeDocument/2006/relationships" id="261" r:id="R3f023203c2214a67"/>
    <p:sldId xmlns:r="http://schemas.openxmlformats.org/officeDocument/2006/relationships" id="262" r:id="R79e705415f40433c"/>
    <p:sldId xmlns:r="http://schemas.openxmlformats.org/officeDocument/2006/relationships" id="263" r:id="R146ff62a286248e8"/>
    <p:sldId xmlns:r="http://schemas.openxmlformats.org/officeDocument/2006/relationships" id="264" r:id="R9a0e1fcff0b54c94"/>
    <p:sldId xmlns:r="http://schemas.openxmlformats.org/officeDocument/2006/relationships" id="265" r:id="R34767e44b3624f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b51280eb44034" /><Relationship Type="http://schemas.openxmlformats.org/officeDocument/2006/relationships/slideMaster" Target="/ppt/slideMasters/slideMaster1.xml" Id="R4472383a34344e0f" /><Relationship Type="http://schemas.openxmlformats.org/officeDocument/2006/relationships/notesMaster" Target="/ppt/notesMasters/notesMaster1.xml" Id="Rab2ae2c8fc0e42f5" /><Relationship Type="http://schemas.openxmlformats.org/officeDocument/2006/relationships/presProps" Target="/ppt/presProps.xml" Id="R8cce786ccb46448d" /><Relationship Type="http://schemas.openxmlformats.org/officeDocument/2006/relationships/tableStyles" Target="/ppt/tableStyles.xml" Id="R5a143ef5fb304f8a" /><Relationship Type="http://schemas.openxmlformats.org/officeDocument/2006/relationships/slide" Target="/ppt/slides/slide1.xml" Id="Rd337af6a616946bb" /><Relationship Type="http://schemas.openxmlformats.org/officeDocument/2006/relationships/slide" Target="/ppt/slides/slide2.xml" Id="Rc441954bc19d4916" /><Relationship Type="http://schemas.openxmlformats.org/officeDocument/2006/relationships/slide" Target="/ppt/slides/slide3.xml" Id="Raafb81e0d8b34907" /><Relationship Type="http://schemas.openxmlformats.org/officeDocument/2006/relationships/slide" Target="/ppt/slides/slide4.xml" Id="R8812161fe47b45e4" /><Relationship Type="http://schemas.openxmlformats.org/officeDocument/2006/relationships/slide" Target="/ppt/slides/slide5.xml" Id="R888525451fc54280" /><Relationship Type="http://schemas.openxmlformats.org/officeDocument/2006/relationships/slide" Target="/ppt/slides/slide6.xml" Id="R3f023203c2214a67" /><Relationship Type="http://schemas.openxmlformats.org/officeDocument/2006/relationships/slide" Target="/ppt/slides/slide7.xml" Id="R79e705415f40433c" /><Relationship Type="http://schemas.openxmlformats.org/officeDocument/2006/relationships/slide" Target="/ppt/slides/slide8.xml" Id="R146ff62a286248e8" /><Relationship Type="http://schemas.openxmlformats.org/officeDocument/2006/relationships/slide" Target="/ppt/slides/slide9.xml" Id="R9a0e1fcff0b54c94" /><Relationship Type="http://schemas.openxmlformats.org/officeDocument/2006/relationships/slide" Target="/ppt/slides/slide10.xml" Id="R34767e44b3624f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e6c85fb284f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1f79f6be494167" /><Relationship Type="http://schemas.openxmlformats.org/officeDocument/2006/relationships/notesMaster" Target="/ppt/notesMasters/notesMaster1.xml" Id="R0f02f647f4c1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8e4b6bf0ec4fcb" /><Relationship Type="http://schemas.openxmlformats.org/officeDocument/2006/relationships/notesMaster" Target="/ppt/notesMasters/notesMaster1.xml" Id="Rc169e7aca105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1e5e02442e4acc" /><Relationship Type="http://schemas.openxmlformats.org/officeDocument/2006/relationships/notesMaster" Target="/ppt/notesMasters/notesMaster1.xml" Id="Rf7078ce2599c41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92d9a31bf940d8" /><Relationship Type="http://schemas.openxmlformats.org/officeDocument/2006/relationships/notesMaster" Target="/ppt/notesMasters/notesMaster1.xml" Id="Rec4ff5b6130042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370d9d83964a5e" /><Relationship Type="http://schemas.openxmlformats.org/officeDocument/2006/relationships/notesMaster" Target="/ppt/notesMasters/notesMaster1.xml" Id="R5fb143b9660c43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12ad747fd94cf7" /><Relationship Type="http://schemas.openxmlformats.org/officeDocument/2006/relationships/notesMaster" Target="/ppt/notesMasters/notesMaster1.xml" Id="R9fcc6ac95df846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22aca3a934636" /><Relationship Type="http://schemas.openxmlformats.org/officeDocument/2006/relationships/notesMaster" Target="/ppt/notesMasters/notesMaster1.xml" Id="Rc0e3cf611a334f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8a7f13897742d1" /><Relationship Type="http://schemas.openxmlformats.org/officeDocument/2006/relationships/notesMaster" Target="/ppt/notesMasters/notesMaster1.xml" Id="R6e12e0b6b1fe45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866c7fd8b943e6" /><Relationship Type="http://schemas.openxmlformats.org/officeDocument/2006/relationships/notesMaster" Target="/ppt/notesMasters/notesMaster1.xml" Id="Rae50072d594e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75def2f2784d8c" /><Relationship Type="http://schemas.openxmlformats.org/officeDocument/2006/relationships/notesMaster" Target="/ppt/notesMasters/notesMaster1.xml" Id="R788e5ff1ba204d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Track 02 selected by founder and confirmed eligible by organizer: https://github.com/EnriqueDGProg/PHIS-OpenAgent-2026/pull/25#issuecomment-6383697898 . All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positioning and target user are a proposal, not a clinical outcome. Official track wording: https://hackathon.genai.works/event/open-agent-hackathon-2026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https://github.com/EnriqueDGProg/PHIS-OpenAgent-2026/pull/33 . The result is observational; do not say a specific factor caused an energy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https://github.com/EnriqueDGProg/PHIS-OpenAgent-2026/pull/33 and https://github.com/EnriqueDGProg/PHIS-OpenAgent-2026/pull/35 . PR35 critique accepted evidence; no unproven replan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PREEXISTING PHIS Discovery modules were owner-authorized and released under MIT in PR33: https://github.com/EnriqueDGProg/PHIS-OpenAgent-2026/pull/33 . New orchestration, adapters, UI and synthetic validation were built during the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Same-run receipt: PR43 SHA 9c871532a2debd9877483dad9c937dbb881508ad, SYN-RUN-64e7acc2fa5e. Source digest fbc8653d5f0d8aeb84c65d06607d7821fbf1c3195088c6d023f17ae2c32a7cea; six pages total 1,080 synthetic rows. Meterless World Model Engine six-event readback. See submission/SOURCES_AND_CLAIMS.md.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Same-run NVIDIA direct response IDs: plan chatcmpl-0a91ce32-a642-4e8c-9472-2532d2d9c511; accepted critique chatcmpl-109cfe2d-87f6-486e-820e-980dcc037255. Cited PHIS signal 90ef93bc76d478a9059f1b1fefcf6486a10aeddab94aa349cbf8364ac77ab86a, positive same-day association, confounding and no causal claim. Meterless Power/Runtime not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PPTX crops from two authentic installed-Chrome images of SYN-RUN-64e7acc2fa5e on exact PR43 SHA 9c871532a2debd9877483dad9c937dbb881508ad. The full original screenshots, including mobile, remain in submission/evidence. Six 30-day intervals and Nemotron review are visible in the original full-page capture; this slide enlarges the longitudinal chart and source evidence for presentation scale. No pixels or scientific values were synthesized.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Same-run PR43 scientific result on frozen fictional dataset digest fbc8653d5f0d8aeb84c65d06607d7821fbf1c3195088c6d023f17ae2c32a7cea. The 28-day comparison remains secondary in the UI. Inspect exact source IDs in submission/evidence/combined-pr43-founder-source-evidence.png. Six variables x 180 days means 1,080 observation slots, not people.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remains a review deck, not evidence of HackOS submission. Same-run proof is SYN-RUN-64e7acc2fa5e on PR43 SHA 9c871532a2debd9877483dad9c937dbb881508ad. Meterless Runtime/Power, real health data, clinical benefit and automatic ingestion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836a8faec48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7fabdfcec4e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d154159134a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ec447c59345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33c08fcdc41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f08ab2fab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B80E60-86E4-4299-9580-E9A74805B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F2BC52-4021-49B6-B09A-5D1246C58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AD14E6-90FB-4E4B-9D56-35687AB652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528914-04F2-43B8-86B9-54790B0E9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930452-48E4-4EC9-BB07-CAF223B19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BE79AA-9F33-45BB-994E-0298F52A6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9E85FB-0F15-4545-902E-1A54BBA3A8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B22460-B8A5-4BC6-AA0A-7DCA2124FF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2A6B0D-9434-447C-8BA0-232F3D225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1DCEEF-B1B6-44D0-B167-3E93F9E5A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643550a154e30" /><Relationship Type="http://schemas.openxmlformats.org/officeDocument/2006/relationships/slideLayout" Target="/ppt/slideLayouts/slideLayout1.xml" Id="R698e53b2ae5545a5" /><Relationship Type="http://schemas.openxmlformats.org/officeDocument/2006/relationships/slideLayout" Target="/ppt/slideLayouts/slideLayout2.xml" Id="R26b10fb7927646ba" /><Relationship Type="http://schemas.openxmlformats.org/officeDocument/2006/relationships/slideLayout" Target="/ppt/slideLayouts/slideLayout3.xml" Id="R5b6a2c46446b4c71" /><Relationship Type="http://schemas.openxmlformats.org/officeDocument/2006/relationships/slideLayout" Target="/ppt/slideLayouts/slideLayout4.xml" Id="Ra4f6e7b7b49c43be" /><Relationship Type="http://schemas.openxmlformats.org/officeDocument/2006/relationships/slideLayout" Target="/ppt/slideLayouts/slideLayout5.xml" Id="Rd3587b02935b413e" /><Relationship Type="http://schemas.openxmlformats.org/officeDocument/2006/relationships/slideLayout" Target="/ppt/slideLayouts/slideLayout6.xml" Id="R4095fabf0f9c4a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e53b2ae5545a5"/>
    <p:sldLayoutId xmlns:r="http://schemas.openxmlformats.org/officeDocument/2006/relationships" id="2147483650" r:id="R26b10fb7927646ba"/>
    <p:sldLayoutId xmlns:r="http://schemas.openxmlformats.org/officeDocument/2006/relationships" id="2147483651" r:id="R5b6a2c46446b4c71"/>
    <p:sldLayoutId xmlns:r="http://schemas.openxmlformats.org/officeDocument/2006/relationships" id="2147483652" r:id="Ra4f6e7b7b49c43be"/>
    <p:sldLayoutId xmlns:r="http://schemas.openxmlformats.org/officeDocument/2006/relationships" id="2147483653" r:id="Rd3587b02935b413e"/>
    <p:sldLayoutId xmlns:r="http://schemas.openxmlformats.org/officeDocument/2006/relationships" id="2147483654" r:id="R4095fabf0f9c4a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7e7189d5c44ed" /><Relationship Type="http://schemas.openxmlformats.org/officeDocument/2006/relationships/notesSlide" Target="/ppt/notesSlides/notesSlide1.xml" Id="Rf5afda11413e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eb5bfb6f04e4d" /><Relationship Type="http://schemas.openxmlformats.org/officeDocument/2006/relationships/notesSlide" Target="/ppt/notesSlides/notesSlide2.xml" Id="R90396a5733254a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2128fbfda4d88" /><Relationship Type="http://schemas.openxmlformats.org/officeDocument/2006/relationships/notesSlide" Target="/ppt/notesSlides/notesSlide3.xml" Id="R3d46c1bc93884d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aafe3dd644c14" /><Relationship Type="http://schemas.openxmlformats.org/officeDocument/2006/relationships/notesSlide" Target="/ppt/notesSlides/notesSlide4.xml" Id="R0f213c4856f2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064c2f16a4924" /><Relationship Type="http://schemas.openxmlformats.org/officeDocument/2006/relationships/notesSlide" Target="/ppt/notesSlides/notesSlide5.xml" Id="R5c21177eaa234a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b9a9df75a44e9" /><Relationship Type="http://schemas.openxmlformats.org/officeDocument/2006/relationships/notesSlide" Target="/ppt/notesSlides/notesSlide6.xml" Id="Rdcb257d1ad3540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2a2f3eb8047b6" /><Relationship Type="http://schemas.openxmlformats.org/officeDocument/2006/relationships/notesSlide" Target="/ppt/notesSlides/notesSlide7.xml" Id="R0d08b5b6eca843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b7bcbacd8473b" /><Relationship Type="http://schemas.openxmlformats.org/officeDocument/2006/relationships/image" Target="/ppt/media/image.png" Id="Ra84eb18a317447d5" /><Relationship Type="http://schemas.openxmlformats.org/officeDocument/2006/relationships/image" Target="/ppt/media/image2.png" Id="R7a311f69b75d4745" /><Relationship Type="http://schemas.openxmlformats.org/officeDocument/2006/relationships/notesSlide" Target="/ppt/notesSlides/notesSlide8.xml" Id="Rff183cb67cd643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416595c384ad7" /><Relationship Type="http://schemas.openxmlformats.org/officeDocument/2006/relationships/notesSlide" Target="/ppt/notesSlides/notesSlide9.xml" Id="Re9b960d35fbe47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52cd0cd7a40e2" /><Relationship Type="http://schemas.openxmlformats.org/officeDocument/2006/relationships/notesSlide" Target="/ppt/notesSlides/notesSlide10.xml" Id="R6b9c1954edf446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18DA3-93B8-48B0-9593-54537370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8C7C2-0BD1-4695-BB52-D68C237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7EA81-6033-4B88-B18C-638839BA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919D6-C364-4F14-902E-541D30C5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HAS MY ENERGY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CHANGED LATELY?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BCAB1-BE2D-47B9-BE51-E5386C4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A9338-7919-43B6-9B5A-89B7D566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An evidence-centered agent that can show what it knows,</a:t>
            </a:r>
          </a:p>
          <a:p xmlns:a="http://schemas.openxmlformats.org/drawingml/2006/main">
            <a: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what it tested, and why it abstains.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7E859-5452-4655-855E-C280CD1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PHIS Open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9B46A-2382-4857-B98B-238DFF11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synthetic data · source-linked evidence</a:t>
            </a:r>
          </a:p>
        </p:txBody>
      </p:sp>
    </p:spTree>
    <p:extLst>
      <p:ext uri="{BB962C8B-B14F-4D97-AF65-F5344CB8AC3E}">
        <p14:creationId xmlns:p14="http://schemas.microsoft.com/office/powerpoint/2010/main" val="916987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AFFE0-4025-4785-9D72-1C30A4A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48632-340A-4DFB-B4AA-0755E169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3A14E-6877-43F1-832B-ABC67435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52212-CFEA-4892-8A14-0862AB18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01 / PROBLEM &amp;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C8B88-2242-4E80-B64E-79EAAEAF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 personal “why” question needs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ACA0A-BAFB-4323-8B5C-62368D8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For a person reviewing changing energy, longitudinal records are incomplete and easy to overread.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FA649-5BB3-4932-8A55-3DEA685E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813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9500F-5279-4A25-8224-D756BA6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962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5D3DE-2EDC-4733-8670-5749A12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Wants to understand a recent change without receiving an invented diagnosis.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0C6BC-2C29-466C-B36E-FAA88212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90850"/>
            <a:ext cx="33813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59404-FFD3-4CF0-AC85-4DBD9F5F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09925"/>
            <a:ext cx="2962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9F0B4-E738-4462-9EEA-AF6CEAE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Scattered time series, missing days and tempting raw correlations obscure what is supportable.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FE9CE-A5DE-4339-8C78-201FCE8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39433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863F2-5CBC-4F0D-A616-A60AFB82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99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17B8F-437D-41DB-88F7-F40FBC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52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Show observation, tested association, uncertainty and source lineage in one investigation.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B4034-681E-42F8-AAFA-89A63D4D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42A5E-24FB-4395-B868-0169B922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6CB90-EC77-4F02-AC22-A9EF1D4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54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58D97-AE1C-4218-8F16-0BE3D0A5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BB04E-7D71-40E8-91D6-990C5AA3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C27E7-B64E-400B-8237-75D6D3CB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DA9B8-8B95-4C12-9CC7-689E172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02 /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32C48-0894-4E95-A4E4-4B4D98CB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PHIS turns a question into a bounded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DD3A3-BCFA-4379-AECB-E02DBC4A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One longitudinal experience; every conclusion must survive the evidence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A462E-A13E-4889-AA17-4319F3A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BDD44-3979-456D-8EC9-BAF9A8E7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2A99B-757D-4ACC-AD54-A8C8D18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EAF76-56EE-451D-8372-6B51FFA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time window, coverage and missing days are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A2475-0F31-4491-A949-E5EAFB42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DFFF-D882-45AE-ADCD-BDA8EDA6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27673-6322-4C18-B5D1-5E46EEE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1CD7-40E9-418E-B01C-C916D34A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Select tools and candidate families from the question and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A5C45-A4DF-466D-8562-19EF71BD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916F8-DE5A-4C24-9A71-54CEC213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C2DFF-43A9-4987-8A60-E1F1F823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0EC3E-5ED5-4720-BC17-431F14D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Discovery evaluates frozen scientific gates and source links.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B8EE2-1C7A-41F8-9E02-8C3DF79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17A62-9187-4D14-B868-BC0922E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67F2C-7C4A-4A74-A026-6B9B7CC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/ abstain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B2B41-3D6C-4C9D-8D8F-481EE934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Return what is supportable and say what remains unknown.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28B35-BDF4-43D7-9FAF-683BC780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C34D5-C019-477B-B65E-6B250B74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77904-A575-4D6E-B027-40E582F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7406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5C5FC-BFEA-4637-BDD5-001BE38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ACD34-4806-43A1-A899-F50D00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33F7-8D3B-4985-B02D-C7BC09D6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86496-EA07-4C98-B567-A32808E0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03 / GENUINE AGENTIC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8C8AC-E05F-43FF-A93D-6221962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 decision loop with a scientific veto.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D5AFA-5279-4215-B94F-1DC4F32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The next step depends on question, coverage, tool result and persisted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563B0-7A9B-4B6D-8CB2-044B453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CE7A2-11AF-4D09-8493-95B1C6B6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DEB6C-D8A2-4EE7-8ECE-A0CDDAF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Choose family and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7A06B-A71D-4D48-B3A8-641F565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85216-E320-47E0-9AA7-E2ADB99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13CA-E3BC-4C9F-874A-2D79BB21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Retrieve records and run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94D9D-7406-4393-A467-CD004DE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812FA-2D07-4BC5-80BA-907D4DD9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D77EE-C3DA-4A6C-A52F-AA49C74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Bind IDs to every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E7B4A-94A0-4ABA-BB0C-3F023238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8B192-AF57-41BB-8718-AE94DB9F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226CC-C6E8-4DC9-8BF3-52EDA30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Check gates and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00296-19B2-4F69-9A20-4AD985A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7939C-8F30-4E67-B59C-FC85BD4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03919-1E5B-4734-9C2C-55093EE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Explain bounded observations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69FA8-A100-4F78-B24F-0DDF9F3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D9796-C5D2-4410-9C6E-6D4CC87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DEBCD-2FD6-4007-9A12-5B0B856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Stop on weak or failed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2A5BE-7A52-4588-A61B-5E2179EB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↳ Weak evidence triggers abstention; persisted World Model state changes a later follow-up.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34B32-7916-4D27-8FEB-F001759B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5D3C5-6E59-417E-9251-E934216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445EC-1EEC-4E28-86A4-9990180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6602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1AF19-BD11-4B56-AE31-A7AEF09B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5F7F9-77C5-4619-8DBE-F2669F77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06153-4F71-4B98-A958-5F02507E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1754E-DF98-46A2-B7F4-B705E64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04 / 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B1981-A391-4999-A465-819F05D1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boundary between evidence and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AAE1-2960-46C8-8AC7-C6A8A11E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UI renders a typed result; it does not compute scientific findings.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FB8B5-EE21-4E3A-96C6-5BDED43C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BB66C-6492-43AE-BD94-B2884083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26DEA-68A5-46BE-AA3F-B91D1FB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&amp;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088F-0A7F-42AF-B833-C8D76011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Synthetic typed records → Zetaris query IDs → immutable source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8899C-5E39-489F-980E-FF8A1FD2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B8000-C6B3-43C3-ACAF-F8A7B16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6525B-8FB9-4095-BF12-8E88B95C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&amp; science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E701F-2327-43B8-B664-BAE9166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Planner and verifier call deterministic Discovery; World Model stores follow-up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CB1DC-9DC5-4AEE-BEAD-1771D96F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47ECA-C848-4B06-AA5D-1234E0F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16AE5-5C85-4768-BEE9-45E70550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D60AF-5281-48FC-9B8D-0D1C969F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API result → longitudinal view, evidence panel, uncertainty and abstention.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DBD11-EF9A-4A24-AAF5-AF2E26F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Runtime boundary: no private health data • no fabricated sponsor response • no LLM-authored measurements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E3649-664D-4FDF-94D8-BB208001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CD3C8-71FB-494C-8740-9E9C3E4C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FEF4F-CF6C-45B5-8E96-7EF9B5C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5437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8BD58-F6A9-4C8A-AD85-D1F5033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2DB0E-7532-412E-BC97-E28C8B70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4F511-9D30-45C3-A2B3-768BA05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21AD1-0D62-42E2-99ED-D6CFBF1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05 / ZETARIS &amp; METERLESS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2DD9B-E6A7-44EA-928A-9DF54C3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Show what each sponsor actually does.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E6BB3-4487-4649-91FA-C04F3AE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A proof belongs to a specific run, source mode and time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52CF1-BD02-4374-93A8-8CBF587C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57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6459D-4C9B-4A66-A47E-6E1EBE85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6B0DF-4829-4D38-A4F3-CED25B9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83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75AFD-CEB2-4D1A-A342-BDA0992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VERIFIED LIVE in the same PR43 run: six authenticated query pages returned 1,080 fictional variable-day records with exact source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76399-68EE-4FFE-B270-935AF8E4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5543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83A7D-88A5-4D12-9F48-6F8D70FD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2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MEMORY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3F734-EAAB-422C-9A7F-CFB1944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2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Meterless World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0B85F-F61E-4ADB-88CA-E1111E3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244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VERIFIED Engine: six source, science, tool and decision events persisted and read back. Runtime and Power remain disconnected.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94AAE-A559-498E-8E3E-70F9432D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29D66-74F2-4E5E-A062-B630A65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6B706-220A-4D9F-80E3-832E4A1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247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E96F7-319E-4374-9129-18C1D053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E6C93-570B-4753-8808-B801A303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D40C1-D7DB-4F3B-BF94-F2082415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0E385-428B-4A3A-9236-EBC1C1EB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06 / UNIQUE SPONSOR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9A00F-D4DC-4409-ABCA-19FC8C96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lineage meets persistent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ACF1A-0C26-4CF9-8491-6B8F64A7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meaningful combination is auditability across steps, not a list of logos.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D4CC8-5E67-49BF-9404-78DAE7CC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SOURCE-BOUND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84F88-3750-443C-B601-13B9C988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retrieved row has a source ID. A scientific child has a plan and family ID. The final statement must cite the evidence that generated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5DF0B-AE69-4509-89AF-379D50E7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00375"/>
            <a:ext cx="95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FEA-C8D1-4CAA-8933-662E566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STATE-DEPENDENT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71861-D31D-40FB-871D-CDC8A6D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World Model event survives the first run. A subsequent question reads that event and selects different work—visible in the trace.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E5ED2-D7CC-4755-BA52-319D3299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5AD79"/>
                </a:solidFill>
                <a:latin typeface="Arial"/>
                <a:ea typeface="Arial"/>
                <a:cs typeface="Arial"/>
              </a:rPr>
              <a:t>NVIDIA Nemotron planned and reviewed this Zetaris-backed run; Discovery owned every scientific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6A6F3-FB51-48B8-BBA6-2A0C527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17E12-AB92-4AB1-809B-20CA390A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97417-F2C7-4283-BBCB-CD6089E3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6071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8947B-A724-456B-AB12-42377118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54F96-B8D2-47D3-878E-A4FB451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BC291-9B80-4048-BB93-35F5B946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2938C-23B1-4286-A39B-330E0FAD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07 / PRODUCT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6DE11-44FB-4B88-B30E-820B66C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One run. The full 180-day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A723D-B4CB-48B9-9015-A695E9B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170 of 180 Energy days recorded. Source-linked evidence from the same authenticated PR43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744F-0322-4591-B5C9-61FD3E33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72009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B41FF-BC90-4D4C-BCC9-78D359D74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eb18a317447d5"/>
          <a:srcRect xmlns:a="http://schemas.openxmlformats.org/drawingml/2006/main" l="30500" t="27000" r="3000" b="52000"/>
          <a:stretch xmlns:a="http://schemas.openxmlformats.org/drawingml/2006/main"/>
        </p:blipFill>
        <p:spPr>
          <a:xfrm xmlns:a="http://schemas.openxmlformats.org/drawingml/2006/main">
            <a:off x="647700" y="2990850"/>
            <a:ext cx="7048500" cy="2609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AFBDA-B18B-4713-A49F-17C7E4D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6004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3E515-90FA-4E03-BA42-871F0292A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11f69b75d4745"/>
          <a:srcRect xmlns:a="http://schemas.openxmlformats.org/drawingml/2006/main" l="49000" t="47000" r="2000" b="25000"/>
          <a:stretch xmlns:a="http://schemas.openxmlformats.org/drawingml/2006/main"/>
        </p:blipFill>
        <p:spPr>
          <a:xfrm xmlns:a="http://schemas.openxmlformats.org/drawingml/2006/main">
            <a:off x="8096250" y="2990850"/>
            <a:ext cx="3448050" cy="2609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C8CD5-55B2-414E-B8B8-00DFB7CA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180-DAY CHART · LIVE ZETARIS + NVIDIA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051BB-6DC5-4603-8385-B7190234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57875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SOURCE IDS · SAME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EF61E-5574-4965-AC35-E8DC13BB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EA394-B72A-4E3A-BB2A-F136976C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72D51-B6BC-4735-90BA-641D424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08358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6B0AC-3A9A-4D9D-B252-6B86E46E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AFC9F-26B9-4CB9-8DA5-D79A7B3C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F80F8-A3B7-47D3-9D3A-0BFCA317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6AD56-E3DF-4273-AD9E-DE96C020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EVIDENCE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2FA9D-D215-4711-BC66-0387F2D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Association is not explanation by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9F634-5D63-49F5-9276-46AE9D9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180-day fictional run exposes coverage, gates and source IDs.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8A21F-3741-4175-845C-3654185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59FC9-DD59-4DFF-B164-54062932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E3BDC-7338-49E6-8505-9FA22D1A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180-day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8589C-ED16-4367-B3A4-596CAF1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1,080 fictional variable-day records; 170/180 Energy days observed across six descriptive intervals.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549A5-1C76-4F46-9631-5C4C1300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4BCF1-4AFD-42E7-9250-8F1FE043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F96F1-6388-4BD3-8E10-1DB7DB0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Scientific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B3197-9A7D-4E32-9946-B8C2B42B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Discovery ran 16 pre-planned tests: 3 qualified, 2 unstable and 11 weak. Every signal retains its source IDs.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36245-E77F-4C73-B9FF-61D668E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F0685-5169-4C98-8435-AABAA88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C80B8-0B5C-4F46-A7E6-4B5D0BFC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34390-F157-4D07-9321-56570807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Nemotron cited one qualified positive same-day association and recognized confounding. No cause or diagnosis follows.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F5126-9B5E-4E31-9CD0-F041CE52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24BAD-4DEC-4DD2-9090-8E93081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79967-B66F-4A72-9EB9-7282B2C9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2163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69CCA-C093-4526-BB91-CA9A9270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4F0E3-C020-46AA-A0E1-750CF668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TRACK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EED1B-5C3E-40EF-9C90-AA169EFF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58956-66C1-42E8-BB20-27F968A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08 / ROADMAP &amp;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AD3F0-BD2B-428C-A0E9-407E7B9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From inspectable prototype to consented insight.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9F129-31F3-40A5-9F4B-B650CF44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The promise is better questions and clearer limits—not a clinical outcome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42769-E994-453B-8188-39F8118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38B42-4903-4AE0-ABC5-04F556C9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57525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7E1AE-D2F4-4709-A97D-BB0A10CA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One synthetic 180-day investigation with source lineage, qualified findings and bounded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47C3A-9512-45B5-814D-30BDB41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293"/>
          </a:bodyPr>
          <a:lstStyle xmlns:a="http://schemas.openxmlformats.org/drawingml/2006/main">
            <a:def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PROVEN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22781-7C41-4DB9-ABFD-70FA907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8145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22298-71C7-4834-9E26-B38F184F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PR43 authenticated Zetaris, PHIS Discovery, hosted Nemotron and World Model Engine.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2216C-FD61-4B90-AEF8-9C187B4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D1878-5827-44D9-B742-4D2FB41D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05375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602DB-440A-453B-AAF4-8DCDF8E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291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Consented ingestion, privacy controls and prospective usefulness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3B6DB-9C00-485E-9169-DA37F4F3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Next gate: final SHA, recorded video and anonymous link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D407A-F03A-4CEC-994D-9D96A27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F0544-BBD3-49F7-9B8E-81BD6167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TRACK 02 · THE AGENT THAT CAN EXPLAIN WHY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CE72E-3F4C-4030-A4DE-25A9EF5A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9094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2026-10-25T20:57:16.8320000Z</dcterms:created>
  <dcterms:modified xsi:type="dcterms:W3CDTF">2026-10-25T20:57:16.8320000Z</dcterms:modified>
</coreProperties>
</file>